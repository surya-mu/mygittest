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1" r:id="rId2"/>
    <p:sldId id="262" r:id="rId3"/>
    <p:sldId id="257" r:id="rId4"/>
    <p:sldId id="263" r:id="rId5"/>
    <p:sldId id="265" r:id="rId6"/>
    <p:sldId id="258" r:id="rId7"/>
    <p:sldId id="259" r:id="rId8"/>
    <p:sldId id="266" r:id="rId9"/>
    <p:sldId id="267" r:id="rId10"/>
    <p:sldId id="268" r:id="rId11"/>
    <p:sldId id="271" r:id="rId12"/>
    <p:sldId id="269" r:id="rId13"/>
    <p:sldId id="270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8" autoAdjust="0"/>
    <p:restoredTop sz="86400" autoAdjust="0"/>
  </p:normalViewPr>
  <p:slideViewPr>
    <p:cSldViewPr>
      <p:cViewPr>
        <p:scale>
          <a:sx n="77" d="100"/>
          <a:sy n="77" d="100"/>
        </p:scale>
        <p:origin x="976" y="-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7:14:34.1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0,0 0,0 0,0 0,0 0,0 0,0 0,4 0,2 0,-1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7:14:29.1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8772 6192,'9'-17,"-1"-1,0 0,-2-1,0 1,-1-1,-1-1,-1 1,1-9,-17 30,7-2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8:32:26.9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205 52,'4'-4,"0"0,0 0,1 0,-1 1,1-1,0 1,0 0,0 1,1-1,-1 1,1 0,-1 0,1 1,3-1,11-1,1 1,-1 0,11 2,-13 0,15-1,0 1,0 2,-1 1,11 4,-33-5,0 0,0 1,0 1,0 0,0 0,-1 1,0 0,0 0,0 1,-1 0,1 1,-2 0,1 0,-1 1,3 4,-1 1,-1 0,-1 0,0 1,0 0,-2 0,0 1,-1-1,0 1,-1 0,0 0,-1 16,0-3,-2-1,-1 1,-1 0,-1-1,-2 0,-2 8,-2-7,0 0,-2-1,-1 0,-1-1,-2-1,0 0,-1-1,-2 0,0-1,-2-2,0 0,-23 18,-5 0,-2-1,-2-3,-1-3,-2-1,-33 12,32-19,-56 16,87-31,24-7,8 0,14 0,80-3,78-12,97-24,-187 22,-11 2,-1 4,25 1,0 8,-61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8:32:30.0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75 121,'1'-2,"0"0,0 0,0 0,0 1,0-1,0 0,0 1,1-1,-1 1,1-1,-1 1,1 0,-1-1,1 1,0 0,0 0,-1 0,1 1,0-1,0 0,1 1,22-9,0 2,1 1,0 1,23-1,22-4,21-2,-49 7,28-7,-35 5,0 2,0 1,0 2,1 1,21 3,-52-1,0 0,0 0,0 0,1 1,-2 0,1 0,0 1,0-1,-1 1,1 1,-1-1,0 1,0 0,1 1,1 2,0 0,-1 1,0-1,0 1,-1 0,0 1,0-1,-1 1,1 3,-1-2,-1 1,1 0,-2-1,1 1,-2 0,1 0,-1 1,-1-1,0 0,-1 0,0 0,-1 0,0 0,0 0,-1 0,-4 8,2-11,0 0,0-1,-1 0,1 0,-2 0,1 0,-1-1,0 0,0-1,-1 1,-5 2,-14 7,-1 0,-21 6,37-15,-1-2,0 0,0 0,0-1,0-1,0 0,0 0,-1-2,-2 0,16 0,0 0,0 0,0 0,0 0,1 0,-1 0,0 0,0 0,0 0,0 0,0 0,0 0,0 0,0 0,1-1,-1 1,0 0,0 0,0 0,0 0,0 0,0 0,0 0,0 0,0-1,0 1,0 0,0 0,0 0,0 0,0 0,0 0,0 0,0-1,0 1,0 0,0 0,0 0,0 0,0 0,0 0,0-1,0 1,0 0,0 0,0 0,0 0,0 0,0 0,0 0,-1 0,1 0,0-1,0 1,0 0,0 0,0 0,0 0,0 0,0 0,11-6,0 3,1 1,-1 0,0 0,1 1,-1 1,1 0,-1 0,1 1,-1 1,3 0,9 3,0 1,0 1,-1 1,12 6,-28-12,0 1,0 0,0 0,0 0,0 1,-1 0,0 0,0 1,0-1,0 1,-1 0,1 0,-1 1,0-1,-1 1,0 0,0 0,0 0,0 0,-1 1,0-1,-1 1,1-1,-1 1,0 0,-1 0,2 13,0 1,-2 0,0 0,-2 0,0 0,-5 19,6-33,-1-1,0 0,-1 0,1 0,-1 0,0-1,0 1,-1-1,0 1,0-1,0-1,0 1,-1 0,0-1,0 0,0 0,0 0,-1-1,1 0,-1 0,0 0,0-1,0 0,-3 1,-10 1,-1 0,0-2,0 0,0-1,-20-2,-5-3,0-1,-5-4,-351-83,401 91,-28-5,5 0,-1 0,-4-4,22 8,1 0,-1-1,1 1,-1-1,1-1,0 1,0-1,1 0,-1 0,1 0,0-1,-6-14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8:32:31.8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809 0,'-2'1,"1"0,0-1,0 1,0 0,0 0,0 0,0 0,0 0,0 0,0 0,1 0,-1 0,0 0,1 0,-1 1,1-1,-1 0,1 1,-1-1,1 0,0 0,0 1,0-1,0 1,-2 2,-35 106,-5-2,-35 62,28-65,-16 37,-58 86,88-170,-3-2,-2-2,-2-1,-3-2,-6 2,33-36,0-1,-7 4,19-16,0 0,0 0,-1-1,1 0,-1 0,0 0,1-1,-1 0,-4 1,-4-4,15 1,-1-1,1 1,0 0,0 0,0-1,0 1,0 0,0 0,0-1,0 1,0 0,0 0,0-1,0 1,0 0,0 0,0-1,0 1,0 0,1 0,-1 0,0-1,0 1,0 0,0 0,0 0,1-1,-1 1,0 0,0 0,0 0,0 0,1-1,22-16,11 5,0 0,0 3,2 1,-1 1,21 0,5-3,10-4,53-19,92-20,-167 43,0 3,0 2,25 1,-74 4,8 0,0 0,0 0,0-1,-1 0,1 0,4-2,-10 2,0 0,0 0,0 0,0 0,0 0,0-1,0 1,-1-1,1 1,0-1,-1 0,1 1,-1-1,0 0,1 0,-1 0,0 0,0 0,0 0,-1-1,1 1,0 0,-1 0,1-1,0-4,0-1,-1 1,0-1,0 1,0-1,-1 1,0 0,0-1,-2-1,-3-14,-2 0,-2-3,3 8,22 63,-10-9,-1 1,-2 0,-1 0,-2 7,-16 149,13-157,-6 48,3-13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8:34:07.1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14T07:33:48.80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385B0-BA7E-4F69-9D34-C0D13B3C45F3}" type="datetimeFigureOut">
              <a:rPr lang="en-IN" smtClean="0"/>
              <a:t>02-05-2024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7EC5-81A5-4487-AE4F-15D9B7A48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663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-&gt; Static Testing by referring to documents   Validation-&gt; Dynamic Testing on application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A7EC5-81A5-4487-AE4F-15D9B7A48DE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724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Sprint-1 -&gt; 3 or 4 tasks, 2 to 3 weeks</a:t>
            </a:r>
          </a:p>
          <a:p>
            <a:r>
              <a:rPr lang="en-US" dirty="0"/>
              <a:t>Sprint-2 -&gt; other tasks are assigned and continue</a:t>
            </a:r>
          </a:p>
          <a:p>
            <a:r>
              <a:rPr lang="en-US" dirty="0"/>
              <a:t>Scope for improvement in every sprint cycle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A7EC5-81A5-4487-AE4F-15D9B7A48DE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850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https://www.youtube.com/watch?v=uBPVmjJVu0E</a:t>
            </a:r>
          </a:p>
          <a:p>
            <a:r>
              <a:rPr lang="en-IN"/>
              <a:t>https://www.altexsoft.com/blog/business/extreme-programming-values-principles-and-practices/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A7EC5-81A5-4487-AE4F-15D9B7A48DE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705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DB771-95C5-4540-BE2D-B6B67950EDA1}" type="datetimeFigureOut">
              <a:rPr lang="en-US" smtClean="0"/>
              <a:pPr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BB5E1-E474-41CD-A7C7-E7054D7B659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10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 and V Model Process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C:\Users\Radhika\Desktop\Training\Slides\Day-02\v-model.gif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600200"/>
            <a:ext cx="7086599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990599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 and Disadvantage of V and V Model</a:t>
            </a:r>
          </a:p>
        </p:txBody>
      </p:sp>
      <p:sp>
        <p:nvSpPr>
          <p:cNvPr id="11266" name="AutoShape 2" descr="Software Tes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68" name="AutoShape 4" descr="Software Tes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599" y="1447799"/>
          <a:ext cx="7772400" cy="4837435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27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Advantages</a:t>
                      </a:r>
                    </a:p>
                  </a:txBody>
                  <a:tcPr marL="63633" marR="63633" marT="63633" marB="63633">
                    <a:lnL w="9525" cap="flat" cmpd="sng" algn="ctr">
                      <a:solidFill>
                        <a:srgbClr val="80EC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EC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EC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Disadvantages</a:t>
                      </a:r>
                    </a:p>
                  </a:txBody>
                  <a:tcPr marL="63633" marR="63633" marT="63633" marB="63633">
                    <a:lnL w="9525" cap="flat" cmpd="sng" algn="ctr">
                      <a:solidFill>
                        <a:srgbClr val="80EC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EC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EC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16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</a:rPr>
                        <a:t>In this, review exists in every phase, that's why we may get less number of bugs in the application.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</a:rPr>
                        <a:t>It is a bit expensive process because Initial investment is high as the testing team is needed from the starting stage itself.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675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</a:rPr>
                        <a:t>The V model provides the Parallel deliverable, which implies that the two teams can work together like here; the development and testing team are working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verdana"/>
                        </a:rPr>
                        <a:t>parallelly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</a:rPr>
                        <a:t>It is a time-consuming process because if requirement changes happen, we need to change every text documents.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16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solidFill>
                            <a:srgbClr val="000000"/>
                          </a:solidFill>
                          <a:latin typeface="verdana"/>
                        </a:rPr>
                        <a:t>This model helps to deliver Robust or stable products.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</a:rPr>
                        <a:t>In this, we need to do more documentation work because of the test cases and all other documents.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142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solidFill>
                            <a:srgbClr val="000000"/>
                          </a:solidFill>
                          <a:latin typeface="verdana"/>
                        </a:rPr>
                        <a:t>In this model, the test Engineers have more knowledge about the product because testing is involved in every stage of product development.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solidFill>
                            <a:srgbClr val="000000"/>
                          </a:solidFill>
                          <a:latin typeface="verdana"/>
                        </a:rPr>
                        <a:t>The V model is not suitable for object-oriented projects.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solidFill>
                            <a:srgbClr val="000000"/>
                          </a:solidFill>
                          <a:latin typeface="verdana"/>
                        </a:rPr>
                        <a:t>The text document can be re-used.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/>
                        </a:rPr>
                        <a:t>We cannot go back and replace the functionality once the application is in the testing phase</a:t>
                      </a:r>
                    </a:p>
                  </a:txBody>
                  <a:tcPr marL="42422" marR="42422" marT="42422" marB="4242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81000"/>
            <a:ext cx="3657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Manual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914400"/>
            <a:ext cx="838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 Manual testing is a software testing process in which test cases are executed manually without using any automated tool.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All test cases executed by the tester manually according to the end user's perspective.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ensures whether the application is working, as mentioned in the requirement document or not.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Manual Testing is one of the most fundamental testing processes as it can find both visible and hidden defects of the software.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The difference between expected output and output, given by the software, is defined as a defect. 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7169" name="Picture 1" descr="C:\Users\Radhika\Desktop\Training\Slides\Day-02\types-of-manual-testing (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733800"/>
            <a:ext cx="71628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457201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Software Build Process</a:t>
            </a:r>
          </a:p>
        </p:txBody>
      </p:sp>
      <p:pic>
        <p:nvPicPr>
          <p:cNvPr id="6146" name="Picture 2" descr="Manual Test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219200"/>
            <a:ext cx="5715000" cy="4762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457200"/>
            <a:ext cx="56738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Advantages and Disadvantages of Manual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90600"/>
            <a:ext cx="77724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Advantages of Manual Testing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does not require programming knowledge while using the Black box method.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is used to test dynamically changing GUI designs.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Tester interacts with software as a real user so that they are able to discover usability and user interface issues.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ensures that the software is a hundred percent bug-free.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is cost-effective.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Easy to learn for new testers.</a:t>
            </a:r>
          </a:p>
          <a:p>
            <a:r>
              <a:rPr lang="en-US" b="1" dirty="0"/>
              <a:t>Disadvantages of Manual Testing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requires a large number of human resources.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is very time-consuming.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Tester develops test cases based on their skills and experience. There is no evidence that they have covered all functions or not.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Test cases cannot be used again. Need to develop separate test cases for each new software.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does not provide testing on all aspects of testing.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Since two teams work together, sometimes it is difficult to understand each other's motives, it can mislead the process.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38200" y="457200"/>
            <a:ext cx="5078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Automation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914400"/>
            <a:ext cx="7772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 When the testing case suites are performed by using automated testing tools is known as Automation Testing.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The testing process is done by using special automation tools to control the execution of test cases and compare the actual result with the expected result. Automation testing requires a pretty huge investment of resources and money.</a:t>
            </a:r>
          </a:p>
          <a:p>
            <a:endParaRPr lang="en-US" b="1" dirty="0"/>
          </a:p>
          <a:p>
            <a:r>
              <a:rPr lang="en-US" b="1" dirty="0"/>
              <a:t>The life cycle of Automation Testing</a:t>
            </a:r>
          </a:p>
          <a:p>
            <a:endParaRPr lang="en-US" b="1" dirty="0"/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  <p:pic>
        <p:nvPicPr>
          <p:cNvPr id="4097" name="Picture 1" descr="C:\Users\Radhika\Desktop\Training\Slides\Day-02\automation-testing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1" y="3048000"/>
            <a:ext cx="5767388" cy="365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533400"/>
            <a:ext cx="61581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Advantages and Disadvantages of Automation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14400"/>
            <a:ext cx="80772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Advantages of Automation Testing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Automation testing takes less time than manual testing.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A tester can test the response of the software if the execution of the same operation is repeated several times.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Automation Testing provides re-usability of test cases on testing of different versions of the same software.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Automation testing is reliable as it eliminates hidden errors by executing test cases again in the same way.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does not require many human resources, instead of writing test cases and testing them manually, they need an automation testing engineer to run them.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The cost of automation testing is less than manual testing because it requires a few human resources.</a:t>
            </a:r>
          </a:p>
          <a:p>
            <a:r>
              <a:rPr lang="en-US" b="1" dirty="0"/>
              <a:t>Disadvantages of Automation Testing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It requires high-quality testing tools and requires high-level skilled testers.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When it encounters an unsuccessful test case, the analysis of the whole event is complicated.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Test maintenance is expensive because high fee license testing equipment is necessary.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Debugging is mandatory if a less effective error has not been solved, it can lead to fatal results.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533400"/>
            <a:ext cx="6158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HRMS Application - https://opensource-demo.orangehrmlive.com/index.php/auth/login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CD0B2E-5CE8-4131-B74A-9E93A050E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17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533400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Agile Process</a:t>
            </a:r>
          </a:p>
          <a:p>
            <a:endParaRPr lang="en-US" sz="2400" b="1" dirty="0"/>
          </a:p>
          <a:p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F0A97-81D4-4AA1-9A65-D4565B67B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00200"/>
            <a:ext cx="875713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4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533400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Agile Process</a:t>
            </a:r>
          </a:p>
          <a:p>
            <a:endParaRPr lang="en-US" sz="2400" b="1" dirty="0"/>
          </a:p>
          <a:p>
            <a:endParaRPr lang="en-US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2249B6-B7DE-4B20-A9EC-EAB84C7E2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3928"/>
            <a:ext cx="9100156" cy="474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8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F1ACEB-5F65-4763-8EC5-6B3E1E1E4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49" y="838200"/>
            <a:ext cx="6806751" cy="55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132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3427F1-FF2E-4A25-839B-4CA45EAC5857}"/>
              </a:ext>
            </a:extLst>
          </p:cNvPr>
          <p:cNvSpPr/>
          <p:nvPr/>
        </p:nvSpPr>
        <p:spPr>
          <a:xfrm>
            <a:off x="1143000" y="304800"/>
            <a:ext cx="4267200" cy="6019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69197-8A6C-4BCE-BF45-FF26671BEC7D}"/>
              </a:ext>
            </a:extLst>
          </p:cNvPr>
          <p:cNvSpPr txBox="1"/>
          <p:nvPr/>
        </p:nvSpPr>
        <p:spPr>
          <a:xfrm>
            <a:off x="1562100" y="526774"/>
            <a:ext cx="3429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Sprint meeting – Day-1 Scrum Master based on the req &amp; complexity</a:t>
            </a:r>
          </a:p>
          <a:p>
            <a:r>
              <a:rPr lang="en-US" sz="2400" b="1" dirty="0"/>
              <a:t>Duration of the sprint </a:t>
            </a:r>
            <a:r>
              <a:rPr lang="en-US" sz="2400" b="1"/>
              <a:t>2- 2 </a:t>
            </a:r>
            <a:r>
              <a:rPr lang="en-US" sz="2400" b="1" dirty="0"/>
              <a:t>weeks </a:t>
            </a:r>
            <a:r>
              <a:rPr lang="en-US" sz="2400" b="1"/>
              <a:t>– 10 </a:t>
            </a:r>
            <a:r>
              <a:rPr lang="en-US" sz="2400" b="1" dirty="0"/>
              <a:t>working days</a:t>
            </a:r>
          </a:p>
          <a:p>
            <a:endParaRPr lang="en-US" sz="2400" b="1" dirty="0"/>
          </a:p>
          <a:p>
            <a:r>
              <a:rPr lang="en-US" sz="2400" b="1" dirty="0"/>
              <a:t>Stake Holder – Customer/end user</a:t>
            </a:r>
          </a:p>
          <a:p>
            <a:endParaRPr lang="en-US" sz="2400" b="1" dirty="0"/>
          </a:p>
          <a:p>
            <a:r>
              <a:rPr lang="en-US" sz="2400" b="1" dirty="0"/>
              <a:t>Scrum Master -</a:t>
            </a:r>
          </a:p>
          <a:p>
            <a:endParaRPr lang="en-US" sz="2400" b="1" dirty="0"/>
          </a:p>
          <a:p>
            <a:r>
              <a:rPr lang="en-US" sz="2400" b="1" dirty="0"/>
              <a:t>Scrum Team (Dev &amp; Test)</a:t>
            </a:r>
          </a:p>
          <a:p>
            <a:endParaRPr lang="en-US" sz="2400" b="1" dirty="0"/>
          </a:p>
          <a:p>
            <a:r>
              <a:rPr lang="en-US" sz="2400" b="1" dirty="0"/>
              <a:t>User Stories 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IN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543AEF3-8342-4F24-BAAA-8F5E042680B3}"/>
                  </a:ext>
                </a:extLst>
              </p14:cNvPr>
              <p14:cNvContentPartPr/>
              <p14:nvPr/>
            </p14:nvContentPartPr>
            <p14:xfrm>
              <a:off x="7008939" y="4756998"/>
              <a:ext cx="5760" cy="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543AEF3-8342-4F24-BAAA-8F5E042680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90939" y="4738998"/>
                <a:ext cx="4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38EE624-8A14-49AF-BBB4-AD23BF7EB0FC}"/>
                  </a:ext>
                </a:extLst>
              </p14:cNvPr>
              <p14:cNvContentPartPr/>
              <p14:nvPr/>
            </p14:nvContentPartPr>
            <p14:xfrm>
              <a:off x="3398139" y="3067158"/>
              <a:ext cx="19440" cy="640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38EE624-8A14-49AF-BBB4-AD23BF7EB0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0499" y="3049518"/>
                <a:ext cx="55080" cy="99720"/>
              </a:xfrm>
              <a:prstGeom prst="rect">
                <a:avLst/>
              </a:prstGeom>
            </p:spPr>
          </p:pic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907F6E29-4FD6-4687-A2EE-B112BBCC8FB6}"/>
              </a:ext>
            </a:extLst>
          </p:cNvPr>
          <p:cNvSpPr/>
          <p:nvPr/>
        </p:nvSpPr>
        <p:spPr>
          <a:xfrm>
            <a:off x="5943600" y="685800"/>
            <a:ext cx="1371600" cy="1752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2B2338-A517-47B5-8E15-3A5A44567B10}"/>
              </a:ext>
            </a:extLst>
          </p:cNvPr>
          <p:cNvSpPr/>
          <p:nvPr/>
        </p:nvSpPr>
        <p:spPr>
          <a:xfrm>
            <a:off x="7548099" y="685800"/>
            <a:ext cx="1071099" cy="159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B81F05D-4CC8-4C14-94F3-60D287B6B769}"/>
              </a:ext>
            </a:extLst>
          </p:cNvPr>
          <p:cNvSpPr/>
          <p:nvPr/>
        </p:nvSpPr>
        <p:spPr>
          <a:xfrm>
            <a:off x="7550560" y="3184844"/>
            <a:ext cx="1071099" cy="159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E4CC050-1D44-4F33-98C9-B8D4F8068306}"/>
              </a:ext>
            </a:extLst>
          </p:cNvPr>
          <p:cNvSpPr/>
          <p:nvPr/>
        </p:nvSpPr>
        <p:spPr>
          <a:xfrm>
            <a:off x="6434470" y="5111587"/>
            <a:ext cx="1071099" cy="159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 of sprint ?</a:t>
            </a:r>
            <a:endParaRPr lang="en-IN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DD389D-A33B-4808-95C6-231FF347320C}"/>
              </a:ext>
            </a:extLst>
          </p:cNvPr>
          <p:cNvSpPr txBox="1"/>
          <p:nvPr/>
        </p:nvSpPr>
        <p:spPr>
          <a:xfrm>
            <a:off x="5981947" y="228600"/>
            <a:ext cx="952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Day-1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6C3888B-786B-4B22-B736-557A40D3B577}"/>
                  </a:ext>
                </a:extLst>
              </p14:cNvPr>
              <p14:cNvContentPartPr/>
              <p14:nvPr/>
            </p14:nvContentPartPr>
            <p14:xfrm>
              <a:off x="7804775" y="193529"/>
              <a:ext cx="386640" cy="4039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6C3888B-786B-4B22-B736-557A40D3B5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87135" y="175889"/>
                <a:ext cx="42228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F369EA3-7066-42C0-A542-A5B0842E1130}"/>
                  </a:ext>
                </a:extLst>
              </p14:cNvPr>
              <p14:cNvContentPartPr/>
              <p14:nvPr/>
            </p14:nvContentPartPr>
            <p14:xfrm>
              <a:off x="6352175" y="2773649"/>
              <a:ext cx="350280" cy="3351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F369EA3-7066-42C0-A542-A5B0842E11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34175" y="2756009"/>
                <a:ext cx="38592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2E60C6B-A9FC-4730-94EB-7FB5C84ACC81}"/>
                  </a:ext>
                </a:extLst>
              </p14:cNvPr>
              <p14:cNvContentPartPr/>
              <p14:nvPr/>
            </p14:nvContentPartPr>
            <p14:xfrm>
              <a:off x="7917095" y="2689769"/>
              <a:ext cx="376200" cy="5371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2E60C6B-A9FC-4730-94EB-7FB5C84ACC8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99095" y="2671769"/>
                <a:ext cx="41184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2D2340D-4801-4457-B40C-F8DFBDB66D9E}"/>
                  </a:ext>
                </a:extLst>
              </p14:cNvPr>
              <p14:cNvContentPartPr/>
              <p14:nvPr/>
            </p14:nvContentPartPr>
            <p14:xfrm>
              <a:off x="6272950" y="1041572"/>
              <a:ext cx="360" cy="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2D2340D-4801-4457-B40C-F8DFBDB66D9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55310" y="1023572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C71EBE14-4CB5-4468-98E3-B17A5ADD5B36}"/>
              </a:ext>
            </a:extLst>
          </p:cNvPr>
          <p:cNvSpPr txBox="1"/>
          <p:nvPr/>
        </p:nvSpPr>
        <p:spPr>
          <a:xfrm>
            <a:off x="6096000" y="914401"/>
            <a:ext cx="114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Standup meeting</a:t>
            </a:r>
          </a:p>
          <a:p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FD6A6-55FC-41DD-AA25-3244831C50BF}"/>
              </a:ext>
            </a:extLst>
          </p:cNvPr>
          <p:cNvSpPr/>
          <p:nvPr/>
        </p:nvSpPr>
        <p:spPr>
          <a:xfrm>
            <a:off x="6134347" y="3310998"/>
            <a:ext cx="1071099" cy="159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469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EBB266D-F22D-49DC-9955-E86712BA1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404134"/>
              </p:ext>
            </p:extLst>
          </p:nvPr>
        </p:nvGraphicFramePr>
        <p:xfrm>
          <a:off x="1524000" y="1397000"/>
          <a:ext cx="55626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>
                  <a:extLst>
                    <a:ext uri="{9D8B030D-6E8A-4147-A177-3AD203B41FA5}">
                      <a16:colId xmlns:a16="http://schemas.microsoft.com/office/drawing/2014/main" val="3684045707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1337141315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514670670"/>
                    </a:ext>
                  </a:extLst>
                </a:gridCol>
              </a:tblGrid>
              <a:tr h="1060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TODO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InProgress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1916"/>
                  </a:ext>
                </a:extLst>
              </a:tr>
              <a:tr h="10604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640585"/>
                  </a:ext>
                </a:extLst>
              </a:tr>
              <a:tr h="10604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38655"/>
                  </a:ext>
                </a:extLst>
              </a:tr>
              <a:tr h="10604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189113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DB46B1-CFFE-45AC-AC73-C84568E02EBC}"/>
              </a:ext>
            </a:extLst>
          </p:cNvPr>
          <p:cNvSpPr/>
          <p:nvPr/>
        </p:nvSpPr>
        <p:spPr>
          <a:xfrm>
            <a:off x="2514600" y="2590800"/>
            <a:ext cx="533400" cy="152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DF19C3-E0C7-4387-B04B-DAE950798C24}"/>
              </a:ext>
            </a:extLst>
          </p:cNvPr>
          <p:cNvSpPr/>
          <p:nvPr/>
        </p:nvSpPr>
        <p:spPr>
          <a:xfrm>
            <a:off x="2514600" y="2895600"/>
            <a:ext cx="533400" cy="152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9948E1-B8CB-4246-8F38-ECB02F8D3B91}"/>
              </a:ext>
            </a:extLst>
          </p:cNvPr>
          <p:cNvSpPr/>
          <p:nvPr/>
        </p:nvSpPr>
        <p:spPr>
          <a:xfrm>
            <a:off x="2590800" y="3634563"/>
            <a:ext cx="533400" cy="152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A91823-A14C-4E2C-B366-A59C843E1AF8}"/>
              </a:ext>
            </a:extLst>
          </p:cNvPr>
          <p:cNvSpPr/>
          <p:nvPr/>
        </p:nvSpPr>
        <p:spPr>
          <a:xfrm>
            <a:off x="1676400" y="4114800"/>
            <a:ext cx="533400" cy="152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B09A1F-D7FF-4EBC-A1A2-67D03C8A7644}"/>
              </a:ext>
            </a:extLst>
          </p:cNvPr>
          <p:cNvSpPr/>
          <p:nvPr/>
        </p:nvSpPr>
        <p:spPr>
          <a:xfrm>
            <a:off x="4385930" y="2742689"/>
            <a:ext cx="533400" cy="152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421FD1-90DD-49D1-AA23-F21725315635}"/>
              </a:ext>
            </a:extLst>
          </p:cNvPr>
          <p:cNvSpPr/>
          <p:nvPr/>
        </p:nvSpPr>
        <p:spPr>
          <a:xfrm>
            <a:off x="4385930" y="3890632"/>
            <a:ext cx="533400" cy="152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F1639F-7C8D-436F-BC39-D930503E86EA}"/>
              </a:ext>
            </a:extLst>
          </p:cNvPr>
          <p:cNvSpPr/>
          <p:nvPr/>
        </p:nvSpPr>
        <p:spPr>
          <a:xfrm>
            <a:off x="5829302" y="2895600"/>
            <a:ext cx="533400" cy="1524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915649D-32A2-45D2-8C4A-956E6B4BD1F5}"/>
                  </a:ext>
                </a:extLst>
              </p14:cNvPr>
              <p14:cNvContentPartPr/>
              <p14:nvPr/>
            </p14:nvContentPartPr>
            <p14:xfrm>
              <a:off x="4784735" y="2742689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915649D-32A2-45D2-8C4A-956E6B4BD1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66735" y="2725049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8457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EC630A-3A23-4F50-A77B-23F0C150B229}"/>
              </a:ext>
            </a:extLst>
          </p:cNvPr>
          <p:cNvSpPr/>
          <p:nvPr/>
        </p:nvSpPr>
        <p:spPr>
          <a:xfrm>
            <a:off x="3505200" y="1295400"/>
            <a:ext cx="2514600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Requirements</a:t>
            </a:r>
            <a:endParaRPr lang="en-IN" dirty="0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B1038CFA-CE10-4B18-A59E-1A4E821366A8}"/>
              </a:ext>
            </a:extLst>
          </p:cNvPr>
          <p:cNvCxnSpPr/>
          <p:nvPr/>
        </p:nvCxnSpPr>
        <p:spPr>
          <a:xfrm rot="5400000">
            <a:off x="2476500" y="1943100"/>
            <a:ext cx="1066800" cy="9906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3D01F3-B239-4A93-88D3-ABD69A1F8E8D}"/>
              </a:ext>
            </a:extLst>
          </p:cNvPr>
          <p:cNvSpPr/>
          <p:nvPr/>
        </p:nvSpPr>
        <p:spPr>
          <a:xfrm>
            <a:off x="762000" y="2952307"/>
            <a:ext cx="2514600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Test &amp; </a:t>
            </a:r>
            <a:r>
              <a:rPr lang="en-US" dirty="0" err="1"/>
              <a:t>FeedBack</a:t>
            </a:r>
            <a:endParaRPr lang="en-IN" dirty="0"/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8281ACA-11BB-420A-AE6E-786C1639F7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62200" y="3797595"/>
            <a:ext cx="1295400" cy="9906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46F07B-D617-459C-BF89-03583800233E}"/>
              </a:ext>
            </a:extLst>
          </p:cNvPr>
          <p:cNvSpPr/>
          <p:nvPr/>
        </p:nvSpPr>
        <p:spPr>
          <a:xfrm>
            <a:off x="3581400" y="4648201"/>
            <a:ext cx="2514600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Development</a:t>
            </a:r>
            <a:endParaRPr lang="en-IN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963DDF3-478D-469B-BFF8-A5FF9AEA4090}"/>
              </a:ext>
            </a:extLst>
          </p:cNvPr>
          <p:cNvCxnSpPr>
            <a:cxnSpLocks/>
            <a:endCxn id="24" idx="0"/>
          </p:cNvCxnSpPr>
          <p:nvPr/>
        </p:nvCxnSpPr>
        <p:spPr>
          <a:xfrm rot="16200000" flipH="1">
            <a:off x="5884898" y="2036798"/>
            <a:ext cx="1052184" cy="81781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49A2B3-ED71-4F05-AAF9-717527B4598C}"/>
              </a:ext>
            </a:extLst>
          </p:cNvPr>
          <p:cNvSpPr/>
          <p:nvPr/>
        </p:nvSpPr>
        <p:spPr>
          <a:xfrm>
            <a:off x="5562600" y="2971800"/>
            <a:ext cx="2514600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Architecture &amp; Design</a:t>
            </a:r>
            <a:endParaRPr lang="en-IN" dirty="0"/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4E5510A3-F565-4B76-880B-22EE172007A9}"/>
              </a:ext>
            </a:extLst>
          </p:cNvPr>
          <p:cNvCxnSpPr>
            <a:cxnSpLocks/>
          </p:cNvCxnSpPr>
          <p:nvPr/>
        </p:nvCxnSpPr>
        <p:spPr>
          <a:xfrm rot="5400000">
            <a:off x="5886451" y="3790953"/>
            <a:ext cx="1142998" cy="723900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16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3C9427-7909-429B-BDA7-2F2CCF965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5" y="2128837"/>
            <a:ext cx="5772150" cy="2600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125EC3-3A2F-4877-A382-A72988B258EC}"/>
              </a:ext>
            </a:extLst>
          </p:cNvPr>
          <p:cNvSpPr txBox="1"/>
          <p:nvPr/>
        </p:nvSpPr>
        <p:spPr>
          <a:xfrm>
            <a:off x="1685925" y="609600"/>
            <a:ext cx="5934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Extreme Programming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4119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901</Words>
  <Application>Microsoft Office PowerPoint</Application>
  <PresentationFormat>On-screen Show (4:3)</PresentationFormat>
  <Paragraphs>91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verdana</vt:lpstr>
      <vt:lpstr>Wingdings</vt:lpstr>
      <vt:lpstr>Office Theme</vt:lpstr>
      <vt:lpstr>V and V Model Process </vt:lpstr>
      <vt:lpstr>Advantage and Disadvantage of V and V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</dc:title>
  <dc:creator>Radhika</dc:creator>
  <cp:lastModifiedBy>Anand B</cp:lastModifiedBy>
  <cp:revision>51</cp:revision>
  <dcterms:created xsi:type="dcterms:W3CDTF">2020-08-24T09:52:12Z</dcterms:created>
  <dcterms:modified xsi:type="dcterms:W3CDTF">2024-05-02T06:11:56Z</dcterms:modified>
</cp:coreProperties>
</file>